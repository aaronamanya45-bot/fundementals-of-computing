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211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3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76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7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5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0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8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4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6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1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2721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53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2109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70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5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21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B4F8B-604A-4E9B-9B83-865286DCD8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7614923-F0F9-4D29-8251-97B9EAD05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6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1C8D-F087-A274-0327-17C613A0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DATA REPRESENTATION AND NUMBER SYSTEMS </a:t>
            </a:r>
            <a:br>
              <a:rPr lang="en-US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435F-F99D-3FFF-8EFB-BD0C81B28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AMANYA AARON                            M26B13/006                           B36757</a:t>
            </a:r>
          </a:p>
          <a:p>
            <a:pPr>
              <a:lnSpc>
                <a:spcPts val="2800"/>
              </a:lnSpc>
            </a:pPr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WADEJE  AARON DAVID                  M26B13/042                          B36791</a:t>
            </a:r>
          </a:p>
          <a:p>
            <a:pPr>
              <a:lnSpc>
                <a:spcPts val="2800"/>
              </a:lnSpc>
            </a:pPr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NOKUKUNDAKWE MARTHA           M26B13/035                         B36784</a:t>
            </a:r>
          </a:p>
          <a:p>
            <a:pPr>
              <a:lnSpc>
                <a:spcPts val="2800"/>
              </a:lnSpc>
            </a:pPr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KABATETSI SHILLA                            M26B13/020                          B36769</a:t>
            </a:r>
          </a:p>
          <a:p>
            <a:pPr>
              <a:lnSpc>
                <a:spcPts val="2800"/>
              </a:lnSpc>
            </a:pPr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KAINEYESU MELISSA                        M26B13/021                          B36770</a:t>
            </a:r>
          </a:p>
          <a:p>
            <a:pPr>
              <a:lnSpc>
                <a:spcPts val="2800"/>
              </a:lnSpc>
            </a:pPr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WAIHE SAMUEL                                M26BB13/050                        B38041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526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8">
            <a:extLst>
              <a:ext uri="{FF2B5EF4-FFF2-40B4-BE49-F238E27FC236}">
                <a16:creationId xmlns:a16="http://schemas.microsoft.com/office/drawing/2014/main" id="{E3D83760-B6BD-A2B6-C75D-EB8F1D91642B}"/>
              </a:ext>
            </a:extLst>
          </p:cNvPr>
          <p:cNvSpPr txBox="1"/>
          <p:nvPr/>
        </p:nvSpPr>
        <p:spPr>
          <a:xfrm>
            <a:off x="1509386" y="758341"/>
            <a:ext cx="4674642" cy="361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GB" sz="3200" dirty="0">
                <a:latin typeface="TT Norms"/>
                <a:ea typeface="TT Norms"/>
                <a:cs typeface="TT Norms"/>
                <a:sym typeface="TT Norms"/>
              </a:rPr>
              <a:t>DECIMAL SYSTEM</a:t>
            </a:r>
            <a:endParaRPr lang="en-US" sz="3200" dirty="0"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E0212151-E348-ED40-ED08-A70FE40FEC49}"/>
              </a:ext>
            </a:extLst>
          </p:cNvPr>
          <p:cNvSpPr txBox="1"/>
          <p:nvPr/>
        </p:nvSpPr>
        <p:spPr>
          <a:xfrm>
            <a:off x="1509386" y="1120026"/>
            <a:ext cx="4427390" cy="4427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decimal system is the normal counting system used by people everyday.</a:t>
            </a:r>
          </a:p>
          <a:p>
            <a:r>
              <a:rPr lang="en-GB" dirty="0"/>
              <a:t>     Digits used are 0 to 9.</a:t>
            </a:r>
          </a:p>
          <a:p>
            <a:endParaRPr lang="en-US" dirty="0"/>
          </a:p>
          <a:p>
            <a:r>
              <a:rPr lang="en-GB" b="1" dirty="0"/>
              <a:t>Importance of Decimal number system in computing.</a:t>
            </a:r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Used by humans to enter and read data.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Makes calculations easier for users.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Computers convert decimal numbers into binary for processing.</a:t>
            </a:r>
            <a:endParaRPr lang="en-US" dirty="0"/>
          </a:p>
          <a:p>
            <a:r>
              <a:rPr lang="en-GB" b="1" dirty="0"/>
              <a:t> </a:t>
            </a:r>
            <a:endParaRPr lang="en-US" dirty="0"/>
          </a:p>
          <a:p>
            <a:pPr algn="just">
              <a:lnSpc>
                <a:spcPts val="2240"/>
              </a:lnSpc>
            </a:pPr>
            <a:endParaRPr lang="en-US" dirty="0"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3A52FD4A-E1D3-119B-D4DB-FAA147B25902}"/>
              </a:ext>
            </a:extLst>
          </p:cNvPr>
          <p:cNvSpPr txBox="1"/>
          <p:nvPr/>
        </p:nvSpPr>
        <p:spPr>
          <a:xfrm>
            <a:off x="6837529" y="576945"/>
            <a:ext cx="4143404" cy="362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GB" sz="3200" dirty="0">
                <a:latin typeface="TT Norms"/>
                <a:ea typeface="TT Norms"/>
                <a:cs typeface="TT Norms"/>
                <a:sym typeface="TT Norms"/>
              </a:rPr>
              <a:t>BINARY SYSTEM</a:t>
            </a:r>
            <a:endParaRPr lang="en-US" sz="3200" dirty="0"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E6ACD1B6-FC0C-92E9-D3DF-C9A7FA479A8C}"/>
              </a:ext>
            </a:extLst>
          </p:cNvPr>
          <p:cNvSpPr txBox="1"/>
          <p:nvPr/>
        </p:nvSpPr>
        <p:spPr>
          <a:xfrm>
            <a:off x="6510778" y="939737"/>
            <a:ext cx="4796905" cy="4708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binary number system is the main language of the computer. It is also known as base 2 and it uses only 0s and 1s as its language. For example, 1010 , 111, 100100.etc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computers use binary because the electronic devices have two states ON (1) and OFF (0) . Binary matches how computer circuits work.</a:t>
            </a:r>
          </a:p>
          <a:p>
            <a:endParaRPr lang="en-US" dirty="0"/>
          </a:p>
          <a:p>
            <a:r>
              <a:rPr lang="en-GB" b="1" dirty="0"/>
              <a:t>Importance of binary in computing.</a:t>
            </a:r>
          </a:p>
          <a:p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Used for all computer processing.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Stores data and instructions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Forms the basis of programming and machine language</a:t>
            </a:r>
            <a:endParaRPr lang="en-US" dirty="0">
              <a:latin typeface="TT Norms"/>
              <a:ea typeface="TT Norms"/>
              <a:cs typeface="TT Norms"/>
              <a:sym typeface="TT Norms"/>
            </a:endParaRPr>
          </a:p>
        </p:txBody>
      </p:sp>
    </p:spTree>
    <p:extLst>
      <p:ext uri="{BB962C8B-B14F-4D97-AF65-F5344CB8AC3E}">
        <p14:creationId xmlns:p14="http://schemas.microsoft.com/office/powerpoint/2010/main" val="1737536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B3E0-8699-9B45-FF4D-8F240CE0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OCTAL SYSTEM</a:t>
            </a:r>
            <a:br>
              <a:rPr lang="en-US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0D337-9434-3647-7192-3FC1630D7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998943" cy="41002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The octal number system uses base 8 and digits used are 0-7. 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For example;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17,245701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</a:rPr>
              <a:t>Importance of octal number system in computing.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Shortens long binary numbers 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Easier for programmers to read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8471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9F27-830A-05B7-395C-BB19F53A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HEXADECIMAL SYSTEM</a:t>
            </a:r>
            <a:br>
              <a:rPr lang="en-US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DEAD-F41F-C5FB-7899-445A5B2C5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221" y="1351128"/>
            <a:ext cx="9498391" cy="45600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The hexadecimal system uses base 16 and the digits used are 0-9 and A-F.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Example;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GB" dirty="0">
                <a:solidFill>
                  <a:schemeClr val="tx1"/>
                </a:solidFill>
              </a:rPr>
              <a:t>A=10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GB" dirty="0">
                <a:solidFill>
                  <a:schemeClr val="tx1"/>
                </a:solidFill>
              </a:rPr>
              <a:t>B=11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GB" dirty="0">
                <a:solidFill>
                  <a:schemeClr val="tx1"/>
                </a:solidFill>
              </a:rPr>
              <a:t>C=12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GB" dirty="0">
                <a:solidFill>
                  <a:schemeClr val="tx1"/>
                </a:solidFill>
              </a:rPr>
              <a:t>D=13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GB" dirty="0">
                <a:solidFill>
                  <a:schemeClr val="tx1"/>
                </a:solidFill>
              </a:rPr>
              <a:t>E=14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GB" dirty="0">
                <a:solidFill>
                  <a:schemeClr val="tx1"/>
                </a:solidFill>
              </a:rPr>
              <a:t>F=15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</a:rPr>
              <a:t>Importance of hexadecimal in computing.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Represents binary numbers in shorter form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Used in programming and web design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Used for memory addresses and machine code</a:t>
            </a:r>
            <a:endParaRPr lang="en-US" dirty="0">
              <a:solidFill>
                <a:schemeClr val="tx1"/>
              </a:solidFill>
              <a:latin typeface="TT Norms"/>
              <a:ea typeface="TT Norms"/>
              <a:cs typeface="TT Norms"/>
              <a:sym typeface="TT Norms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60465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4A88-22D1-1DB4-6173-EF65B57E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  <a:t>PRACTICAL CONVERSION ACTIVITIES</a:t>
            </a:r>
            <a:br>
              <a:rPr lang="en-US" dirty="0">
                <a:solidFill>
                  <a:schemeClr val="tx1"/>
                </a:solidFill>
                <a:latin typeface="TT Norms"/>
                <a:ea typeface="TT Norms"/>
                <a:cs typeface="TT Norms"/>
                <a:sym typeface="TT Norms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bases.jpeg">
            <a:extLst>
              <a:ext uri="{FF2B5EF4-FFF2-40B4-BE49-F238E27FC236}">
                <a16:creationId xmlns:a16="http://schemas.microsoft.com/office/drawing/2014/main" id="{8A0E6F98-9DBE-E288-DF1C-723C1F51FE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8886" y="1223612"/>
            <a:ext cx="3426502" cy="5609231"/>
          </a:xfrm>
          <a:prstGeom prst="rect">
            <a:avLst/>
          </a:prstGeom>
        </p:spPr>
      </p:pic>
      <p:pic>
        <p:nvPicPr>
          <p:cNvPr id="5" name="Picture 4" descr="device.jpeg">
            <a:extLst>
              <a:ext uri="{FF2B5EF4-FFF2-40B4-BE49-F238E27FC236}">
                <a16:creationId xmlns:a16="http://schemas.microsoft.com/office/drawing/2014/main" id="{42F9C7F5-717F-17EF-2086-7B1DF8664F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71824" y="1280546"/>
            <a:ext cx="3336577" cy="5340961"/>
          </a:xfrm>
          <a:prstGeom prst="rect">
            <a:avLst/>
          </a:prstGeom>
        </p:spPr>
      </p:pic>
      <p:pic>
        <p:nvPicPr>
          <p:cNvPr id="6" name="Picture 5" descr="decimal.jpeg">
            <a:extLst>
              <a:ext uri="{FF2B5EF4-FFF2-40B4-BE49-F238E27FC236}">
                <a16:creationId xmlns:a16="http://schemas.microsoft.com/office/drawing/2014/main" id="{BF48E224-B535-B988-A4A7-82794F975B0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881274" y="1264555"/>
            <a:ext cx="4025037" cy="534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5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75B3-DF89-869F-ABE9-6C608A80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 C: Real-World Applications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A46FA-583B-5325-66A3-E4C1427ED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391" y="1364776"/>
            <a:ext cx="9621221" cy="5131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How is binary data used in mobile phones?</a:t>
            </a:r>
            <a:endParaRPr lang="en-US" dirty="0"/>
          </a:p>
          <a:p>
            <a:r>
              <a:rPr lang="en-US" dirty="0"/>
              <a:t>Mobile phones use binary data to process calls, messages, applications, and internet communication.</a:t>
            </a:r>
          </a:p>
          <a:p>
            <a:pPr marL="0" indent="0">
              <a:buNone/>
            </a:pPr>
            <a:r>
              <a:rPr lang="en-US" b="1" dirty="0"/>
              <a:t>How is binary data used in computer memory and storage?</a:t>
            </a:r>
            <a:endParaRPr lang="en-US" dirty="0"/>
          </a:p>
          <a:p>
            <a:r>
              <a:rPr lang="en-US" dirty="0"/>
              <a:t>Computers store data in binary form using bits and bytes ram and storage devices store programs files etc. </a:t>
            </a:r>
          </a:p>
          <a:p>
            <a:pPr marL="0" indent="0">
              <a:buNone/>
            </a:pPr>
            <a:r>
              <a:rPr lang="en-US" b="1" dirty="0"/>
              <a:t>How is binary data used in internet communication?</a:t>
            </a:r>
            <a:endParaRPr lang="en-US" dirty="0"/>
          </a:p>
          <a:p>
            <a:r>
              <a:rPr lang="en-US" dirty="0"/>
              <a:t>Data sent through the internet is converted into binary and transmitted in packets between devices through networks .</a:t>
            </a:r>
          </a:p>
          <a:p>
            <a:pPr marL="0" indent="0">
              <a:buNone/>
            </a:pPr>
            <a:r>
              <a:rPr lang="en-US" b="1" dirty="0"/>
              <a:t>How is binary data used in digital images?</a:t>
            </a:r>
            <a:endParaRPr lang="en-US" dirty="0"/>
          </a:p>
          <a:p>
            <a:r>
              <a:rPr lang="en-US" dirty="0"/>
              <a:t>Images are stored using binary values representing colors and pixels.</a:t>
            </a:r>
          </a:p>
          <a:p>
            <a:pPr marL="0" indent="0">
              <a:buNone/>
            </a:pPr>
            <a:r>
              <a:rPr lang="en-US" b="1" dirty="0"/>
              <a:t>How is binary data used in audio and video systems?</a:t>
            </a:r>
            <a:endParaRPr lang="en-US" dirty="0"/>
          </a:p>
          <a:p>
            <a:r>
              <a:rPr lang="en-US" dirty="0"/>
              <a:t>Audio and video are converted into binary data for storage, streaming, and playback</a:t>
            </a:r>
          </a:p>
        </p:txBody>
      </p:sp>
    </p:spTree>
    <p:extLst>
      <p:ext uri="{BB962C8B-B14F-4D97-AF65-F5344CB8AC3E}">
        <p14:creationId xmlns:p14="http://schemas.microsoft.com/office/powerpoint/2010/main" val="3987387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A24C-BC8E-DAC7-FCCF-0D6EC59B4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 D: Practical Demonstration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D8B714-E241-8343-F5EE-BE4F89BC3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4866426"/>
              </p:ext>
            </p:extLst>
          </p:nvPr>
        </p:nvGraphicFramePr>
        <p:xfrm>
          <a:off x="1678675" y="1596789"/>
          <a:ext cx="9825936" cy="43672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6484">
                  <a:extLst>
                    <a:ext uri="{9D8B030D-6E8A-4147-A177-3AD203B41FA5}">
                      <a16:colId xmlns:a16="http://schemas.microsoft.com/office/drawing/2014/main" val="2787152978"/>
                    </a:ext>
                  </a:extLst>
                </a:gridCol>
                <a:gridCol w="2456484">
                  <a:extLst>
                    <a:ext uri="{9D8B030D-6E8A-4147-A177-3AD203B41FA5}">
                      <a16:colId xmlns:a16="http://schemas.microsoft.com/office/drawing/2014/main" val="1295387393"/>
                    </a:ext>
                  </a:extLst>
                </a:gridCol>
                <a:gridCol w="2456484">
                  <a:extLst>
                    <a:ext uri="{9D8B030D-6E8A-4147-A177-3AD203B41FA5}">
                      <a16:colId xmlns:a16="http://schemas.microsoft.com/office/drawing/2014/main" val="187144452"/>
                    </a:ext>
                  </a:extLst>
                </a:gridCol>
                <a:gridCol w="2456484">
                  <a:extLst>
                    <a:ext uri="{9D8B030D-6E8A-4147-A177-3AD203B41FA5}">
                      <a16:colId xmlns:a16="http://schemas.microsoft.com/office/drawing/2014/main" val="959046361"/>
                    </a:ext>
                  </a:extLst>
                </a:gridCol>
              </a:tblGrid>
              <a:tr h="1091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</a:rPr>
                        <a:t>Red Light</a:t>
                      </a:r>
                      <a:endParaRPr lang="en-US" sz="3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Yellow Light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Green Light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Binary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7091264"/>
                  </a:ext>
                </a:extLst>
              </a:tr>
              <a:tr h="1091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ON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OFF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OFF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1,0,0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51008744"/>
                  </a:ext>
                </a:extLst>
              </a:tr>
              <a:tr h="1091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OFF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ON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OFF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0,1,0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8795428"/>
                  </a:ext>
                </a:extLst>
              </a:tr>
              <a:tr h="1091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OFF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OFF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>
                          <a:effectLst/>
                        </a:rPr>
                        <a:t>ON</a:t>
                      </a:r>
                      <a:endParaRPr lang="en-US" sz="3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3200" dirty="0">
                          <a:effectLst/>
                        </a:rPr>
                        <a:t>0,0,1</a:t>
                      </a:r>
                      <a:endParaRPr lang="en-US" sz="3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61607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659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BB90-6494-04CE-6AAB-F2764E4C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9. Why is hexadecimal preferred over long binary numbers in networking and programming?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C70E-2E66-59A9-D8BB-CE4E29629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Hexadecimal is shorter and easier to read.</a:t>
            </a:r>
          </a:p>
          <a:p>
            <a:r>
              <a:rPr lang="en-US" dirty="0"/>
              <a:t>Reduces errors when writing binary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2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7834-CD96-70AD-BC7C-A90AEA7A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10. What challenges would arise if computers used decimal internally instead of binary?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31D74-FAA2-CDC1-4839-C0ECA443E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Hardware would become more complicated, slower, and less reliable.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334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3DEF-032C-4E5C-904D-367742BB5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11. How does understanding number systems help IT professionals in networking, cybersecurity, and programming?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130F-EDB9-5FC4-6D5E-7BD0A25B4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It helps professionals understand networking, memory systems, programming, cybersecurity, and troubleshooting.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6242473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135</TotalTime>
  <Words>537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Cambria</vt:lpstr>
      <vt:lpstr>Century Gothic</vt:lpstr>
      <vt:lpstr>TT Norms</vt:lpstr>
      <vt:lpstr>Wingdings 3</vt:lpstr>
      <vt:lpstr>Wisp</vt:lpstr>
      <vt:lpstr>DATA REPRESENTATION AND NUMBER SYSTEMS  </vt:lpstr>
      <vt:lpstr>PowerPoint Presentation</vt:lpstr>
      <vt:lpstr>OCTAL SYSTEM </vt:lpstr>
      <vt:lpstr>HEXADECIMAL SYSTEM </vt:lpstr>
      <vt:lpstr>PRACTICAL CONVERSION ACTIVITIES </vt:lpstr>
      <vt:lpstr>Part C: Real-World Applications </vt:lpstr>
      <vt:lpstr>Part D: Practical Demonstration </vt:lpstr>
      <vt:lpstr>9. Why is hexadecimal preferred over long binary numbers in networking and programming? </vt:lpstr>
      <vt:lpstr>10. What challenges would arise if computers used decimal internally instead of binary? </vt:lpstr>
      <vt:lpstr>11. How does understanding number systems help IT professionals in networking, cybersecurity, and programming?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Wadeje</dc:creator>
  <cp:lastModifiedBy>Aaron Wadeje</cp:lastModifiedBy>
  <cp:revision>4</cp:revision>
  <dcterms:created xsi:type="dcterms:W3CDTF">2026-05-18T06:56:31Z</dcterms:created>
  <dcterms:modified xsi:type="dcterms:W3CDTF">2026-05-18T09:11:33Z</dcterms:modified>
</cp:coreProperties>
</file>